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00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49900" y="0"/>
            <a:ext cx="381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95300"/>
            <a:ext cx="1773381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67000" y="571500"/>
            <a:ext cx="9525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81300" y="571500"/>
            <a:ext cx="571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  <a:latin typeface="Lato"/>
              </a:rPr>
              <a:t>Propuesta estratégica · Abril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33500"/>
            <a:ext cx="11430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CCCCCC"/>
                </a:solidFill>
                <a:latin typeface="Lato"/>
              </a:rPr>
              <a:t>Licitación Agencia de Creatividad y Medios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14500"/>
            <a:ext cx="12382500" cy="30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Lato"/>
              </a:rPr>
              <a:t>Estrategia de</a:t>
            </a:r>
          </a:p>
          <a:p>
            <a:pPr algn="l"/>
            <a:r>
              <a:rPr sz="6600" b="1" i="0">
                <a:solidFill>
                  <a:srgbClr val="FFFFFF"/>
                </a:solidFill>
                <a:latin typeface="Lato"/>
              </a:rPr>
              <a:t>Campaña ATL</a:t>
            </a:r>
          </a:p>
          <a:p>
            <a:pPr algn="l"/>
            <a:r>
              <a:rPr sz="6600" b="1" i="0">
                <a:solidFill>
                  <a:srgbClr val="FFFFFF"/>
                </a:solidFill>
                <a:latin typeface="Lato"/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4953000"/>
            <a:ext cx="685800" cy="47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181600"/>
            <a:ext cx="85725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FFFFFF"/>
                </a:solidFill>
                <a:latin typeface="Lato"/>
              </a:rPr>
              <a:t>Panamá &amp; Costa Rica  ·  Presupuesto USD $465,000  ·  5–6 meses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" cy="102870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" y="1905000"/>
            <a:ext cx="533400" cy="47625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3238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34243"/>
                </a:solidFill>
                <a:latin typeface="Lato"/>
              </a:rPr>
              <a:t>Agenda
del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714500"/>
            <a:ext cx="4191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DC006B"/>
                </a:solidFill>
                <a:latin typeface="Lat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05400" y="1714500"/>
            <a:ext cx="3619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34243"/>
                </a:solidFill>
                <a:latin typeface="Lato"/>
              </a:rPr>
              <a:t>Diagnóstico de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5400" y="1981200"/>
            <a:ext cx="3619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NPS, ToM, desafíos y oportunidades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400300"/>
            <a:ext cx="3619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0" y="1714500"/>
            <a:ext cx="4191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DC006B"/>
                </a:solidFill>
                <a:latin typeface="Lat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05900" y="1714500"/>
            <a:ext cx="3619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34243"/>
                </a:solidFill>
                <a:latin typeface="Lato"/>
              </a:rPr>
              <a:t>Audiencia objetivo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05900" y="1981200"/>
            <a:ext cx="3619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Perfil TGI Panamá: quién es nuestro consumidor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72500" y="2400300"/>
            <a:ext cx="3619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857500"/>
            <a:ext cx="4191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DC006B"/>
                </a:solidFill>
                <a:latin typeface="Lat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5400" y="2857500"/>
            <a:ext cx="3619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34243"/>
                </a:solidFill>
                <a:latin typeface="Lato"/>
              </a:rPr>
              <a:t>Tensión estratégica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5400" y="3124200"/>
            <a:ext cx="3619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El insight que ancla toda la campaña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543300"/>
            <a:ext cx="3619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500" y="2857500"/>
            <a:ext cx="4191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DC006B"/>
                </a:solidFill>
                <a:latin typeface="Lat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5900" y="2857500"/>
            <a:ext cx="3619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34243"/>
                </a:solidFill>
                <a:latin typeface="Lato"/>
              </a:rPr>
              <a:t>Concepto creativo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5900" y="3124200"/>
            <a:ext cx="3619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Idea madre y ejecuciones por país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72500" y="3543300"/>
            <a:ext cx="3619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000500"/>
            <a:ext cx="4191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DC006B"/>
                </a:solidFill>
                <a:latin typeface="Lato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5400" y="4000500"/>
            <a:ext cx="3619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34243"/>
                </a:solidFill>
                <a:latin typeface="Lato"/>
              </a:rPr>
              <a:t>Estrategia de medios ATL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5400" y="4267200"/>
            <a:ext cx="3619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Mix OOH + TV Paga por mercado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686300"/>
            <a:ext cx="3619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2500" y="4000500"/>
            <a:ext cx="4191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DC006B"/>
                </a:solidFill>
                <a:latin typeface="Lato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5900" y="4000500"/>
            <a:ext cx="3619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34243"/>
                </a:solidFill>
                <a:latin typeface="Lato"/>
              </a:rPr>
              <a:t>Plan de campaña &amp; KPIs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5900" y="4267200"/>
            <a:ext cx="3619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Fases, calendario e indicadores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72500" y="4686300"/>
            <a:ext cx="3619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53000" cy="102870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238500"/>
            <a:ext cx="857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AAAAAA"/>
                </a:solidFill>
                <a:latin typeface="La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19500"/>
            <a:ext cx="104775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Lato"/>
              </a:rPr>
              <a:t>Diagnóstico</a:t>
            </a:r>
          </a:p>
          <a:p>
            <a:pPr algn="l"/>
            <a:r>
              <a:rPr sz="6000" b="1" i="0">
                <a:solidFill>
                  <a:srgbClr val="FFFFFF"/>
                </a:solidFill>
                <a:latin typeface="Lato"/>
              </a:rPr>
              <a:t>de marca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15000"/>
            <a:ext cx="85725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CCCCCC"/>
                </a:solidFill>
                <a:latin typeface="Lato"/>
              </a:rPr>
              <a:t>¿Dónde estamos? Radiografía de Encuentra24 hoy</a:t>
            </a:r>
          </a:p>
        </p:txBody>
      </p:sp>
      <p:pic>
        <p:nvPicPr>
          <p:cNvPr id="6" name="Picture 5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00" y="762000"/>
            <a:ext cx="533400" cy="47625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952500"/>
            <a:ext cx="1333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C006B"/>
                </a:solidFill>
                <a:latin typeface="Lato"/>
              </a:rPr>
              <a:t>La marca está en un momento crítico de reinvención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2500" y="1333500"/>
            <a:ext cx="3952875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200" y="1409700"/>
            <a:ext cx="3419475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C006B"/>
                </a:solidFill>
                <a:latin typeface="Lato"/>
              </a:rPr>
              <a:t>16.07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133600"/>
            <a:ext cx="3419475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NPS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362200"/>
            <a:ext cx="34194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Bajo para líder de categoría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95875" y="1333500"/>
            <a:ext cx="3952875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62575" y="1409700"/>
            <a:ext cx="3419475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34243"/>
                </a:solidFill>
                <a:latin typeface="Lato"/>
              </a:rPr>
              <a:t>↓ 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2575" y="2133600"/>
            <a:ext cx="3419475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Top of Mind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2575" y="2362200"/>
            <a:ext cx="34194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Erosión frente a Facebook Marketplace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9250" y="1333500"/>
            <a:ext cx="3952875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5950" y="1409700"/>
            <a:ext cx="3419475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77D8F"/>
                </a:solidFill>
                <a:latin typeface="Lato"/>
              </a:rPr>
              <a:t>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5950" y="2133600"/>
            <a:ext cx="3419475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Panamá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5950" y="2362200"/>
            <a:ext cx="34194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Líder sin competidor directo a escala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82625" y="1333500"/>
            <a:ext cx="3952875" cy="1619250"/>
          </a:xfrm>
          <a:prstGeom prst="rect">
            <a:avLst/>
          </a:prstGeom>
          <a:solidFill>
            <a:srgbClr val="434243"/>
          </a:solidFill>
          <a:ln w="190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649325" y="1409700"/>
            <a:ext cx="3419475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C006B"/>
                </a:solidFill>
                <a:latin typeface="Lato"/>
              </a:rPr>
              <a:t>Vacío
emocional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49325" y="2362200"/>
            <a:ext cx="34194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CCCCCC"/>
                </a:solidFill>
                <a:latin typeface="Lato"/>
              </a:rPr>
              <a:t>El performance digital eliminó el branding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2500" y="3238500"/>
            <a:ext cx="16383000" cy="952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8700" y="3390900"/>
            <a:ext cx="57150" cy="6477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9200" y="3390900"/>
            <a:ext cx="158115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34243"/>
                </a:solidFill>
                <a:latin typeface="Lato"/>
              </a:rPr>
              <a:t>La gente usa Encuentra24 por costumbre… no porque le emocione. La campaña debe resolver la tensión: rapidez vs. confianza.</a:t>
            </a:r>
          </a:p>
        </p:txBody>
      </p:sp>
      <p:pic>
        <p:nvPicPr>
          <p:cNvPr id="22" name="Picture 21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00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3238500"/>
            <a:ext cx="857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CCCCCC"/>
                </a:solidFill>
                <a:latin typeface="Lato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19500"/>
            <a:ext cx="104775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Lato"/>
              </a:rPr>
              <a:t>Audiencia</a:t>
            </a:r>
          </a:p>
          <a:p>
            <a:pPr algn="l"/>
            <a:r>
              <a:rPr sz="6000" b="1" i="0">
                <a:solidFill>
                  <a:srgbClr val="FFFFFF"/>
                </a:solidFill>
                <a:latin typeface="Lato"/>
              </a:rPr>
              <a:t>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715000"/>
            <a:ext cx="9525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FFFFFF"/>
                </a:solidFill>
                <a:latin typeface="Lato"/>
              </a:rPr>
              <a:t>Perfil TGI Multimedios 2025 · NSE Medio-Alto · Panamá</a:t>
            </a:r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00" y="571500"/>
            <a:ext cx="1238250" cy="24765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1550" y="581025"/>
            <a:ext cx="12001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Lato"/>
              </a:rPr>
              <a:t>B2C · Consumidor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952500"/>
            <a:ext cx="6667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434243"/>
                </a:solidFill>
                <a:latin typeface="Lato"/>
              </a:rPr>
              <a:t>El Comprador Digital
con Criterio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857375"/>
            <a:ext cx="6667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9494"/>
                </a:solidFill>
                <a:latin typeface="Lato"/>
              </a:rPr>
              <a:t>25–60 años · NSE Medio-Alto · Millennials 53% + Gen X 39%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2286000"/>
            <a:ext cx="3048000" cy="838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900" y="2362200"/>
            <a:ext cx="27432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DC006B"/>
                </a:solidFill>
                <a:latin typeface="Lato"/>
              </a:rPr>
              <a:t>51%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283845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9494"/>
                </a:solidFill>
                <a:latin typeface="Lato"/>
              </a:rPr>
              <a:t>mujeres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52900" y="2286000"/>
            <a:ext cx="3048000" cy="838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5300" y="2362200"/>
            <a:ext cx="27432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434243"/>
                </a:solidFill>
                <a:latin typeface="Lato"/>
              </a:rPr>
              <a:t>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5300" y="283845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9494"/>
                </a:solidFill>
                <a:latin typeface="Lato"/>
              </a:rPr>
              <a:t>planifica compras importantes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3238500"/>
            <a:ext cx="3048000" cy="838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900" y="3314700"/>
            <a:ext cx="27432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434243"/>
                </a:solidFill>
                <a:latin typeface="Lato"/>
              </a:rPr>
              <a:t>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79095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9494"/>
                </a:solidFill>
                <a:latin typeface="Lato"/>
              </a:rPr>
              <a:t>comprar online facilita su vida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2900" y="3238500"/>
            <a:ext cx="3048000" cy="838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5300" y="3314700"/>
            <a:ext cx="27432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77D8F"/>
                </a:solidFill>
                <a:latin typeface="Lato"/>
              </a:rPr>
              <a:t>53%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5300" y="379095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9494"/>
                </a:solidFill>
                <a:latin typeface="Lato"/>
              </a:rPr>
              <a:t>comprará auto de segunda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381500"/>
            <a:ext cx="6667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DC006B"/>
                </a:solidFill>
                <a:latin typeface="Lato"/>
              </a:rPr>
              <a:t>Pico de conexión: 6PM (82%) · 12PM (78%) · 6AM (73%)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29500" y="571500"/>
            <a:ext cx="9525" cy="91440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0500" y="57150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949494"/>
                </a:solidFill>
                <a:latin typeface="Lato"/>
              </a:rPr>
              <a:t>CONSUMO DE MEDIOS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0" y="762000"/>
            <a:ext cx="1524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OOH (vallas, mupis)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48800" y="800100"/>
            <a:ext cx="7924800" cy="762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48800" y="800100"/>
            <a:ext cx="7686675" cy="762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411700" y="762000"/>
            <a:ext cx="4953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434243"/>
                </a:solidFill>
                <a:latin typeface="Lato"/>
              </a:rPr>
              <a:t>97%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0500" y="1257300"/>
            <a:ext cx="1524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Internet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48800" y="1295400"/>
            <a:ext cx="7924800" cy="762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48800" y="1295400"/>
            <a:ext cx="7686675" cy="762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411700" y="1257300"/>
            <a:ext cx="4953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434243"/>
                </a:solidFill>
                <a:latin typeface="Lato"/>
              </a:rPr>
              <a:t>97%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0500" y="1752600"/>
            <a:ext cx="1524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WhatsApp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48800" y="1790700"/>
            <a:ext cx="7924800" cy="762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48800" y="1790700"/>
            <a:ext cx="6572250" cy="7620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411700" y="1752600"/>
            <a:ext cx="4953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434243"/>
                </a:solidFill>
                <a:latin typeface="Lato"/>
              </a:rPr>
              <a:t>83%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0500" y="2247900"/>
            <a:ext cx="1524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TV Paga (Cable)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48800" y="2286000"/>
            <a:ext cx="7924800" cy="762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48800" y="2286000"/>
            <a:ext cx="6410325" cy="76200"/>
          </a:xfrm>
          <a:prstGeom prst="rect">
            <a:avLst/>
          </a:prstGeom>
          <a:solidFill>
            <a:srgbClr val="84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411700" y="2247900"/>
            <a:ext cx="4953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434243"/>
                </a:solidFill>
                <a:latin typeface="Lato"/>
              </a:rPr>
              <a:t>81%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0" y="2743200"/>
            <a:ext cx="1524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Instagram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48800" y="2781300"/>
            <a:ext cx="7924800" cy="762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48800" y="2781300"/>
            <a:ext cx="6257925" cy="76200"/>
          </a:xfrm>
          <a:prstGeom prst="rect">
            <a:avLst/>
          </a:prstGeom>
          <a:solidFill>
            <a:srgbClr val="00C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411700" y="2743200"/>
            <a:ext cx="4953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434243"/>
                </a:solidFill>
                <a:latin typeface="Lato"/>
              </a:rPr>
              <a:t>79%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0500" y="3238500"/>
            <a:ext cx="1524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Facebook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48800" y="3276600"/>
            <a:ext cx="7924800" cy="762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48800" y="3276600"/>
            <a:ext cx="5543550" cy="76200"/>
          </a:xfrm>
          <a:prstGeom prst="rect">
            <a:avLst/>
          </a:prstGeom>
          <a:solidFill>
            <a:srgbClr val="434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411700" y="3238500"/>
            <a:ext cx="4953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434243"/>
                </a:solidFill>
                <a:latin typeface="Lato"/>
              </a:rPr>
              <a:t>70%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0500" y="3733800"/>
            <a:ext cx="1524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Radio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48800" y="3771900"/>
            <a:ext cx="7924800" cy="762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48800" y="3771900"/>
            <a:ext cx="5305425" cy="76200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411700" y="3733800"/>
            <a:ext cx="4953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434243"/>
                </a:solidFill>
                <a:latin typeface="Lato"/>
              </a:rPr>
              <a:t>67%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0500" y="4229100"/>
            <a:ext cx="1524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TikTok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48800" y="4267200"/>
            <a:ext cx="7924800" cy="762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48800" y="4267200"/>
            <a:ext cx="4591050" cy="76200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411700" y="4229100"/>
            <a:ext cx="4953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434243"/>
                </a:solidFill>
                <a:latin typeface="Lato"/>
              </a:rPr>
              <a:t>58%</a:t>
            </a:r>
          </a:p>
        </p:txBody>
      </p:sp>
      <p:pic>
        <p:nvPicPr>
          <p:cNvPr id="53" name="Picture 52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00" y="571500"/>
            <a:ext cx="1524000" cy="24765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1550" y="581025"/>
            <a:ext cx="14859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Lato"/>
              </a:rPr>
              <a:t>B2B · Cliente Profesional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952500"/>
            <a:ext cx="13335000" cy="49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Lato"/>
              </a:rPr>
              <a:t>El cliente que genera el inventario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1714500"/>
            <a:ext cx="3762375" cy="1905000"/>
          </a:xfrm>
          <a:prstGeom prst="rect">
            <a:avLst/>
          </a:prstGeom>
          <a:noFill/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1100" y="1866900"/>
            <a:ext cx="266700" cy="47625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1100" y="2019300"/>
            <a:ext cx="3305175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1" i="0">
                <a:solidFill>
                  <a:srgbClr val="FFFFFF"/>
                </a:solidFill>
                <a:latin typeface="Lato"/>
              </a:rPr>
              <a:t>Inmobiliarias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362200"/>
            <a:ext cx="3305175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Lato"/>
              </a:rPr>
              <a:t>Constructoras, promotoras, corredores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1100" y="2819400"/>
            <a:ext cx="1143000" cy="20955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150" y="2828925"/>
            <a:ext cx="1104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Lato"/>
              </a:rPr>
              <a:t>Segmento #1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05375" y="1714500"/>
            <a:ext cx="3762375" cy="1905000"/>
          </a:xfrm>
          <a:prstGeom prst="rect">
            <a:avLst/>
          </a:prstGeom>
          <a:noFill/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33975" y="1866900"/>
            <a:ext cx="266700" cy="47625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3975" y="2019300"/>
            <a:ext cx="3305175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1" i="0">
                <a:solidFill>
                  <a:srgbClr val="FFFFFF"/>
                </a:solidFill>
                <a:latin typeface="Lato"/>
              </a:rPr>
              <a:t>Concesionarios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3975" y="2362200"/>
            <a:ext cx="3305175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Lato"/>
              </a:rPr>
              <a:t>Venta de vehículos nuevos y usados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3975" y="2819400"/>
            <a:ext cx="1143000" cy="2095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3025" y="2828925"/>
            <a:ext cx="1104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Lato"/>
              </a:rPr>
              <a:t>Segmento #2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58250" y="1714500"/>
            <a:ext cx="3762375" cy="1905000"/>
          </a:xfrm>
          <a:prstGeom prst="rect">
            <a:avLst/>
          </a:prstGeom>
          <a:noFill/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86850" y="1866900"/>
            <a:ext cx="266700" cy="47625"/>
          </a:xfrm>
          <a:prstGeom prst="rect">
            <a:avLst/>
          </a:prstGeom>
          <a:solidFill>
            <a:srgbClr val="00C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6850" y="2019300"/>
            <a:ext cx="3305175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1" i="0">
                <a:solidFill>
                  <a:srgbClr val="FFFFFF"/>
                </a:solidFill>
                <a:latin typeface="Lato"/>
              </a:rPr>
              <a:t>Reclutadores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6850" y="2362200"/>
            <a:ext cx="3305175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Lato"/>
              </a:rPr>
              <a:t>Empresas buscando talento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6850" y="2819400"/>
            <a:ext cx="1143000" cy="2095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5900" y="2828925"/>
            <a:ext cx="1104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Lato"/>
              </a:rPr>
              <a:t>Segmento #3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11125" y="1714500"/>
            <a:ext cx="3762375" cy="1905000"/>
          </a:xfrm>
          <a:prstGeom prst="rect">
            <a:avLst/>
          </a:prstGeom>
          <a:noFill/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039725" y="1866900"/>
            <a:ext cx="266700" cy="47625"/>
          </a:xfrm>
          <a:prstGeom prst="rect">
            <a:avLst/>
          </a:prstGeom>
          <a:solidFill>
            <a:srgbClr val="84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39725" y="2019300"/>
            <a:ext cx="3305175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0" b="1" i="0">
                <a:solidFill>
                  <a:srgbClr val="FFFFFF"/>
                </a:solidFill>
                <a:latin typeface="Lato"/>
              </a:rPr>
              <a:t>PyMEs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9725" y="2362200"/>
            <a:ext cx="3305175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Lato"/>
              </a:rPr>
              <a:t>Pequeñas y medianas empresas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039725" y="2819400"/>
            <a:ext cx="1143000" cy="2095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58775" y="2828925"/>
            <a:ext cx="1104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Lato"/>
              </a:rPr>
              <a:t>Segmento #4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2500" y="4000500"/>
            <a:ext cx="16192500" cy="762000"/>
          </a:xfrm>
          <a:prstGeom prst="rect">
            <a:avLst/>
          </a:prstGeom>
          <a:solidFill>
            <a:srgbClr val="440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8700" y="4076700"/>
            <a:ext cx="57150" cy="6096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1100" y="411480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DC006B"/>
                </a:solidFill>
                <a:latin typeface="Lato"/>
              </a:rPr>
              <a:t>PROPUESTA DE VALOR NO COMUNICADA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1100" y="4343400"/>
            <a:ext cx="14287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Lato"/>
              </a:rPr>
              <a:t>Calidad del lead  ·  Entorno profesional y seguro  ·  Mejoras UX/UI  ·  Buscador inteligente</a:t>
            </a:r>
          </a:p>
        </p:txBody>
      </p:sp>
      <p:pic>
        <p:nvPicPr>
          <p:cNvPr id="33" name="Picture 3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53000" cy="102870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238500"/>
            <a:ext cx="857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AAAAAA"/>
                </a:solidFill>
                <a:latin typeface="La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19500"/>
            <a:ext cx="104775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Lato"/>
              </a:rPr>
              <a:t>Tensión</a:t>
            </a:r>
          </a:p>
          <a:p>
            <a:pPr algn="l"/>
            <a:r>
              <a:rPr sz="6000" b="1" i="0">
                <a:solidFill>
                  <a:srgbClr val="FFFFFF"/>
                </a:solidFill>
                <a:latin typeface="Lato"/>
              </a:rPr>
              <a:t>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15000"/>
            <a:ext cx="85725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CCCCCC"/>
                </a:solidFill>
                <a:latin typeface="Lato"/>
              </a:rPr>
              <a:t>El insight que mueve la campaña</a:t>
            </a:r>
          </a:p>
        </p:txBody>
      </p:sp>
      <p:pic>
        <p:nvPicPr>
          <p:cNvPr id="6" name="Picture 5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71500"/>
            <a:ext cx="533400" cy="47625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857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C006B"/>
                </a:solidFill>
                <a:latin typeface="Lato"/>
              </a:rPr>
              <a:t>Insight estratégico · La tensión real del consumidor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43000"/>
            <a:ext cx="7048500" cy="400050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4900" y="129540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949494"/>
                </a:solidFill>
                <a:latin typeface="Lato"/>
              </a:rPr>
              <a:t>FACEBOOK MARKETPLACE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1638300"/>
            <a:ext cx="63627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34243"/>
                </a:solidFill>
                <a:latin typeface="Lato"/>
              </a:rPr>
              <a:t>✓ Gratis y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2114550"/>
            <a:ext cx="63627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9494"/>
                </a:solidFill>
                <a:latin typeface="Lato"/>
              </a:rPr>
              <a:t>✗ Estafas y mensajeros fraudulentos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2590800"/>
            <a:ext cx="63627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9494"/>
                </a:solidFill>
                <a:latin typeface="Lato"/>
              </a:rPr>
              <a:t>✗ Pagos falsos y pérdida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067050"/>
            <a:ext cx="63627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9494"/>
                </a:solidFill>
                <a:latin typeface="Lato"/>
              </a:rPr>
              <a:t>✗ Sin estructura para decisiones grandes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543300"/>
            <a:ext cx="63627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9494"/>
                </a:solidFill>
                <a:latin typeface="Lato"/>
              </a:rPr>
              <a:t>✗ Cero garantías en transacciones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857500"/>
            <a:ext cx="76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949494"/>
                </a:solidFill>
                <a:latin typeface="Lato"/>
              </a:rPr>
              <a:t>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143000"/>
            <a:ext cx="7048500" cy="4000500"/>
          </a:xfrm>
          <a:prstGeom prst="rect">
            <a:avLst/>
          </a:prstGeom>
          <a:solidFill>
            <a:srgbClr val="FFF8FB"/>
          </a:solidFill>
          <a:ln w="25400">
            <a:solidFill>
              <a:srgbClr val="DC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86900" y="129540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DC006B"/>
                </a:solidFill>
                <a:latin typeface="Lato"/>
              </a:rPr>
              <a:t>ENCUENTRA24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6900" y="1638300"/>
            <a:ext cx="63627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006B"/>
                </a:solidFill>
                <a:latin typeface="Lato"/>
              </a:rPr>
              <a:t>✓ Entorno profesional y seguro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6900" y="2114550"/>
            <a:ext cx="63627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006B"/>
                </a:solidFill>
                <a:latin typeface="Lato"/>
              </a:rPr>
              <a:t>✓ Datos reales para decisiones de alto impacto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6900" y="2590800"/>
            <a:ext cx="63627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006B"/>
                </a:solidFill>
                <a:latin typeface="Lato"/>
              </a:rPr>
              <a:t>✓ Lead calificado para B2B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6900" y="3067050"/>
            <a:ext cx="63627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9494"/>
                </a:solidFill>
                <a:latin typeface="Lato"/>
              </a:rPr>
              <a:t>→ Percibido como menos ágil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6900" y="3543300"/>
            <a:ext cx="63627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77D8F"/>
                </a:solidFill>
                <a:latin typeface="Lato"/>
              </a:rPr>
              <a:t>→ Oportunidad: mostrar velocidad + confianza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5410200"/>
            <a:ext cx="16764000" cy="685800"/>
          </a:xfrm>
          <a:prstGeom prst="rect">
            <a:avLst/>
          </a:prstGeom>
          <a:solidFill>
            <a:srgbClr val="434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5524500"/>
            <a:ext cx="1676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ato"/>
              </a:rPr>
              <a:t>Encuentra24 no es solo el lugar donde buscas / vendes. Es el lugar donde acudes con confianza.</a:t>
            </a:r>
          </a:p>
        </p:txBody>
      </p:sp>
      <p:pic>
        <p:nvPicPr>
          <p:cNvPr id="21" name="Picture 20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71500"/>
            <a:ext cx="762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Lato"/>
              </a:rPr>
              <a:t>Acciones impulsivas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952500"/>
            <a:ext cx="7620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666666"/>
                </a:solidFill>
                <a:latin typeface="Lato"/>
              </a:rPr>
              <a:t>RAPIDEZ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095500"/>
            <a:ext cx="800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i="0">
                <a:solidFill>
                  <a:srgbClr val="888888"/>
                </a:solidFill>
                <a:latin typeface="Lato"/>
              </a:rPr>
              <a:t>✗ No son racionales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90800"/>
            <a:ext cx="800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i="0">
                <a:solidFill>
                  <a:srgbClr val="888888"/>
                </a:solidFill>
                <a:latin typeface="Lato"/>
              </a:rPr>
              <a:t>✗ Problemas con familia y grupos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86100"/>
            <a:ext cx="800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i="0">
                <a:solidFill>
                  <a:srgbClr val="888888"/>
                </a:solidFill>
                <a:latin typeface="Lato"/>
              </a:rPr>
              <a:t>✗ Pena, sentimiento de culpa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81400"/>
            <a:ext cx="800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i="0">
                <a:solidFill>
                  <a:srgbClr val="888888"/>
                </a:solidFill>
                <a:latin typeface="Lato"/>
              </a:rPr>
              <a:t>✗ Peso de solucionar el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571500"/>
            <a:ext cx="838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Lato"/>
              </a:rPr>
              <a:t>Decisiones importantes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0" y="952500"/>
            <a:ext cx="8382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Lato"/>
              </a:rPr>
              <a:t>CONFIANZA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0" y="2095500"/>
            <a:ext cx="838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 i="0">
                <a:solidFill>
                  <a:srgbClr val="FFFFFF"/>
                </a:solidFill>
                <a:latin typeface="Lato"/>
              </a:rPr>
              <a:t>✓ Lo racionalizas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0" y="2590800"/>
            <a:ext cx="838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 i="0">
                <a:solidFill>
                  <a:srgbClr val="FFFFFF"/>
                </a:solidFill>
                <a:latin typeface="Lato"/>
              </a:rPr>
              <a:t>✓ Consultas con expertos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0" y="3086100"/>
            <a:ext cx="838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 i="0">
                <a:solidFill>
                  <a:srgbClr val="FFFFFF"/>
                </a:solidFill>
                <a:latin typeface="Lato"/>
              </a:rPr>
              <a:t>✓ Te sientes que lo estás haciendo bien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0" y="3581400"/>
            <a:ext cx="838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 i="0">
                <a:solidFill>
                  <a:srgbClr val="FFFFFF"/>
                </a:solidFill>
                <a:latin typeface="Lato"/>
              </a:rPr>
              <a:t>✓ Solución definitiva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25000" y="6286500"/>
            <a:ext cx="8382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0" y="6477000"/>
            <a:ext cx="83820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FFFFFF"/>
                </a:solidFill>
                <a:latin typeface="Lato"/>
              </a:rPr>
              <a:t>Cuando se trata de</a:t>
            </a:r>
          </a:p>
          <a:p>
            <a:pPr algn="l"/>
            <a:r>
              <a:rPr sz="2100" b="1" i="0">
                <a:solidFill>
                  <a:srgbClr val="FFFFFF"/>
                </a:solidFill>
                <a:latin typeface="Lato"/>
              </a:rPr>
              <a:t>DECISIONES IMPORTANTES</a:t>
            </a:r>
          </a:p>
          <a:p>
            <a:pPr algn="l"/>
            <a:r>
              <a:rPr sz="1650" b="0" i="0">
                <a:solidFill>
                  <a:srgbClr val="FFFFFF"/>
                </a:solidFill>
                <a:latin typeface="Lato"/>
              </a:rPr>
              <a:t>la respuesta es siempre Encuentra24.</a:t>
            </a:r>
          </a:p>
        </p:txBody>
      </p:sp>
      <p:pic>
        <p:nvPicPr>
          <p:cNvPr id="17" name="Picture 16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00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3238500"/>
            <a:ext cx="857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CCCCCC"/>
                </a:solidFill>
                <a:latin typeface="Lato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19500"/>
            <a:ext cx="104775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Lato"/>
              </a:rPr>
              <a:t>Concepto</a:t>
            </a:r>
          </a:p>
          <a:p>
            <a:pPr algn="l"/>
            <a:r>
              <a:rPr sz="6000" b="1" i="0">
                <a:solidFill>
                  <a:srgbClr val="FFFFFF"/>
                </a:solidFill>
                <a:latin typeface="Lato"/>
              </a:rPr>
              <a:t>creativo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715000"/>
            <a:ext cx="9525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FFFFFF"/>
                </a:solidFill>
                <a:latin typeface="Lato"/>
              </a:rPr>
              <a:t>La idea madre · Un concepto, dos ejecuciones</a:t>
            </a:r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571500"/>
            <a:ext cx="1524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1" i="0">
                <a:solidFill>
                  <a:srgbClr val="DC006B"/>
                </a:solidFill>
                <a:latin typeface="Lato"/>
              </a:rPr>
              <a:t>Concepto creativo · Idea madre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914400"/>
            <a:ext cx="15240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434243"/>
                </a:solidFill>
                <a:latin typeface="Lato"/>
              </a:rPr>
              <a:t>"Para lo importante"</a:t>
            </a:r>
          </a:p>
        </p:txBody>
      </p:sp>
      <p:sp>
        <p:nvSpPr>
          <p:cNvPr id="4" name="Rectangle 3"/>
          <p:cNvSpPr/>
          <p:nvPr/>
        </p:nvSpPr>
        <p:spPr>
          <a:xfrm>
            <a:off x="8801100" y="2095500"/>
            <a:ext cx="533400" cy="47625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4000" y="2362200"/>
            <a:ext cx="1524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9494"/>
                </a:solidFill>
                <a:latin typeface="Lato"/>
              </a:rPr>
              <a:t>Recupera el verbo ENCONTRAR — el corazón del nombre de la marca — y lo resignifica: no solo buscar, sino hallar con certeza, velocidad y confianza. La idea resuelve la tensión rapidez vs. seguridad.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5000" y="4000500"/>
            <a:ext cx="5905500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33600" y="4152900"/>
            <a:ext cx="381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4243"/>
                </a:solidFill>
                <a:latin typeface="Lato"/>
              </a:rPr>
              <a:t>🇵🇦  Panamá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3600" y="4457700"/>
            <a:ext cx="5334000" cy="49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49494"/>
                </a:solidFill>
                <a:latin typeface="Lato"/>
              </a:rPr>
              <a:t>"Para lo importante en Panamá,
solo Encuentra24"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3600" y="514350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DC006B"/>
                </a:solidFill>
                <a:latin typeface="Lato"/>
              </a:rPr>
              <a:t>Humor cotidiano · Cercano y real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1500" y="4000500"/>
            <a:ext cx="5905500" cy="1524000"/>
          </a:xfrm>
          <a:prstGeom prst="rect">
            <a:avLst/>
          </a:prstGeom>
          <a:solidFill>
            <a:srgbClr val="434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0100" y="4152900"/>
            <a:ext cx="381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Lato"/>
              </a:rPr>
              <a:t>🇨🇷  Costa 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0100" y="4457700"/>
            <a:ext cx="5334000" cy="49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CCCCC"/>
                </a:solidFill>
                <a:latin typeface="Lato"/>
              </a:rPr>
              <a:t>"En Costa Rica, los que saben,
no se quedan a medias"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0100" y="514350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DC006B"/>
                </a:solidFill>
                <a:latin typeface="Lato"/>
              </a:rPr>
              <a:t>Aspiracional · Inteligencia de compra</a:t>
            </a:r>
          </a:p>
        </p:txBody>
      </p:sp>
      <p:pic>
        <p:nvPicPr>
          <p:cNvPr id="14" name="Picture 13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" cy="102870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5334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FFFFFF"/>
                </a:solidFill>
                <a:latin typeface="Lato"/>
              </a:rPr>
              <a:t>🇵🇦</a:t>
            </a:r>
          </a:p>
        </p:txBody>
      </p:sp>
      <p:sp>
        <p:nvSpPr>
          <p:cNvPr id="4" name="Rectangle 3"/>
          <p:cNvSpPr/>
          <p:nvPr/>
        </p:nvSpPr>
        <p:spPr>
          <a:xfrm>
            <a:off x="857250" y="533400"/>
            <a:ext cx="1143000" cy="24765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542925"/>
            <a:ext cx="11049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Lato"/>
              </a:rPr>
              <a:t>TV · Spot 30"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952500"/>
            <a:ext cx="800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34243"/>
                </a:solidFill>
                <a:latin typeface="Lato"/>
              </a:rPr>
              <a:t>Las decisiones
impulsivas cuestan.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905000"/>
            <a:ext cx="533400" cy="47625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2095500"/>
            <a:ext cx="8001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i="0">
                <a:solidFill>
                  <a:srgbClr val="949494"/>
                </a:solidFill>
                <a:latin typeface="Lato"/>
              </a:rPr>
              <a:t>Una mujer llega a casa y encuentra un pony comiéndose el sofá. El esposo se justifica: "El anuncio decía 'pony pequeño ideal para departamento'… fue un impulso." 
Corte: ella navega tranquila en Encuentra24 buscando una casa con patio.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000500"/>
            <a:ext cx="800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34243"/>
                </a:solidFill>
                <a:latin typeface="Lato"/>
              </a:rPr>
              <a:t>▣ ESPN · TNT · Cinemax · Warner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4305300"/>
            <a:ext cx="800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9494"/>
                </a:solidFill>
                <a:latin typeface="Lato"/>
              </a:rPr>
              <a:t>Franja 7–10PM · Spots 30" + versión 15"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2500" y="571500"/>
            <a:ext cx="9334500" cy="8572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3000" y="762000"/>
            <a:ext cx="8953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949494"/>
                </a:solidFill>
                <a:latin typeface="Lato"/>
              </a:rPr>
              <a:t>CLOSING CARD · TV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63000" y="1066800"/>
            <a:ext cx="8953500" cy="2857500"/>
          </a:xfrm>
          <a:prstGeom prst="rect">
            <a:avLst/>
          </a:prstGeom>
          <a:solidFill>
            <a:srgbClr val="434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63000" y="1333500"/>
            <a:ext cx="89535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 i="0">
                <a:solidFill>
                  <a:srgbClr val="FFFFFF"/>
                </a:solidFill>
                <a:latin typeface="Lato"/>
              </a:rPr>
              <a:t>Para lo importante…</a:t>
            </a:r>
          </a:p>
        </p:txBody>
      </p:sp>
      <p:pic>
        <p:nvPicPr>
          <p:cNvPr id="15" name="Picture 1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1828800"/>
            <a:ext cx="1330036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63000" y="2171700"/>
            <a:ext cx="89535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0" i="0">
                <a:solidFill>
                  <a:srgbClr val="AAAAAA"/>
                </a:solidFill>
                <a:latin typeface="Lato"/>
              </a:rPr>
              <a:t>Profesional, seguro y confiable
para decisiones de alto impacto.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0" y="2857500"/>
            <a:ext cx="8953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1" i="0">
                <a:solidFill>
                  <a:srgbClr val="DC006B"/>
                </a:solidFill>
                <a:latin typeface="Lato"/>
              </a:rPr>
              <a:t>▣  Encuentra y vende aquí</a:t>
            </a:r>
          </a:p>
        </p:txBody>
      </p:sp>
      <p:pic>
        <p:nvPicPr>
          <p:cNvPr id="18" name="Picture 17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76250"/>
            <a:ext cx="95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Lato"/>
              </a:rPr>
              <a:t>🇵🇦</a:t>
            </a:r>
          </a:p>
        </p:txBody>
      </p:sp>
      <p:sp>
        <p:nvSpPr>
          <p:cNvPr id="3" name="Rectangle 2"/>
          <p:cNvSpPr/>
          <p:nvPr/>
        </p:nvSpPr>
        <p:spPr>
          <a:xfrm>
            <a:off x="1333500" y="495300"/>
            <a:ext cx="2286000" cy="22860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52550" y="504825"/>
            <a:ext cx="2247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Lato"/>
              </a:rPr>
              <a:t>OOH · Valla Digital 16:9 · Panamá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0" y="533400"/>
            <a:ext cx="857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Lato"/>
              </a:rPr>
              <a:t>Albrook · Multiplaza · Altaplaza · Metro · Cinta Costera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952500"/>
            <a:ext cx="16764000" cy="81915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572000"/>
            <a:ext cx="16764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55555"/>
                </a:solidFill>
                <a:latin typeface="Lato"/>
              </a:rPr>
              <a:t>MOCKUP VALLA / MUPI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219700"/>
            <a:ext cx="16764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77777"/>
                </a:solidFill>
                <a:latin typeface="Lato"/>
              </a:rPr>
              <a:t>Proporción 16:9  ·  Insertar arte final aquí</a:t>
            </a:r>
          </a:p>
        </p:txBody>
      </p:sp>
      <p:pic>
        <p:nvPicPr>
          <p:cNvPr id="9" name="Picture 8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" cy="102870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000" cy="10287000"/>
          </a:xfrm>
          <a:prstGeom prst="rect">
            <a:avLst/>
          </a:prstGeom>
          <a:solidFill>
            <a:srgbClr val="434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500" y="533400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Lato"/>
              </a:rPr>
              <a:t>🇵🇦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33400"/>
            <a:ext cx="1143000" cy="2286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0550" y="542925"/>
            <a:ext cx="1104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Lato"/>
              </a:rPr>
              <a:t>TV · Spot 30"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" y="952500"/>
            <a:ext cx="266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ato"/>
              </a:rPr>
              <a:t>"El Pony"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500" y="1714500"/>
            <a:ext cx="381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500" y="1905000"/>
            <a:ext cx="266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AAAAAA"/>
                </a:solidFill>
                <a:latin typeface="Lato"/>
              </a:rPr>
              <a:t>Las decisiones impulsivas cuestan.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" y="3048000"/>
            <a:ext cx="2667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Lato"/>
              </a:rPr>
              <a:t>▣ ESPN · TNT · Cinemax · Warner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" y="3314700"/>
            <a:ext cx="2667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Lato"/>
              </a:rPr>
              <a:t>Franja 7–10PM · Spot 30"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600" y="45720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006B"/>
                </a:solidFill>
                <a:latin typeface="Lato"/>
              </a:rPr>
              <a:t>GUIÓN COMPLETO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600" y="762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006B"/>
                </a:solidFill>
                <a:latin typeface="Lato"/>
              </a:rPr>
              <a:t>APERTURA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2900" y="762000"/>
            <a:ext cx="13335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Una mujer llega a casa. Abre la puerta con normalidad. Al entrar se detiene en seco: en la sala hay un pony comiéndose el sofá. Su esposo está al lado, nervioso.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6600" y="1866900"/>
            <a:ext cx="144780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6600" y="20955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9494"/>
                </a:solidFill>
                <a:latin typeface="Lato"/>
              </a:rPr>
              <a:t>DIÁLOGO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2900" y="2095500"/>
            <a:ext cx="13335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LOC ESPOSO: "Amor… te puedo explicar. El anuncio decía 'Pony pequeño ideal para departamento'… y bueno… fue un impulso."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6600" y="3200400"/>
            <a:ext cx="144780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6600" y="3429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9494"/>
                </a:solidFill>
                <a:latin typeface="Lato"/>
              </a:rPr>
              <a:t>SUPER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2900" y="3429000"/>
            <a:ext cx="13335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La mujer lo mira. Luego mira al pony destrozando el sofá. "Las decisiones impulsivas cuestan."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6600" y="4533900"/>
            <a:ext cx="144780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76600" y="47625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006B"/>
                </a:solidFill>
                <a:latin typeface="Lato"/>
              </a:rPr>
              <a:t>CORTE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2900" y="4762500"/>
            <a:ext cx="13335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La misma mujer, tranquila, navega en Encuentra24 buscando una casa con patio. Se ve la plataforma ordenada.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6600" y="5867400"/>
            <a:ext cx="144780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6600" y="6096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9494"/>
                </a:solidFill>
                <a:latin typeface="Lato"/>
              </a:rPr>
              <a:t>LOC 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52900" y="6096000"/>
            <a:ext cx="13335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"Busca, compra y vende en un entorno ordenado, seguro y confiable, con datos reales, para decisiones de alto impacto."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6600" y="7200900"/>
            <a:ext cx="144780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6600" y="74295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006B"/>
                </a:solidFill>
                <a:latin typeface="Lato"/>
              </a:rPr>
              <a:t>CIERRE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2900" y="7429500"/>
            <a:ext cx="13335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"Para lo importante… Encuentra24." · Profesional, seguro y confiable.</a:t>
            </a:r>
          </a:p>
        </p:txBody>
      </p:sp>
      <p:pic>
        <p:nvPicPr>
          <p:cNvPr id="30" name="Picture 29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00" y="571500"/>
            <a:ext cx="533400" cy="47625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762000"/>
            <a:ext cx="857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C006B"/>
                </a:solidFill>
                <a:latin typeface="Lato"/>
              </a:rPr>
              <a:t>🇵🇦 Panamá · Copies OOH por categoría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952500" y="1143000"/>
            <a:ext cx="5200650" cy="266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1100" y="1295400"/>
            <a:ext cx="47434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949494"/>
                </a:solidFill>
                <a:latin typeface="Lato"/>
              </a:rPr>
              <a:t>AUTOS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1562100"/>
            <a:ext cx="474345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4243"/>
                </a:solidFill>
                <a:latin typeface="Lato"/>
              </a:rPr>
              <a:t>"¿Quieres cambiar de carro sin que el próximo te cambie la vida?"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2514600"/>
            <a:ext cx="47434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DC006B"/>
                </a:solidFill>
                <a:latin typeface="Lato"/>
              </a:rPr>
              <a:t>Para lo importante — encuentra24.com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781300"/>
            <a:ext cx="47434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Valla Cinta Costera / Vía España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3650" y="1143000"/>
            <a:ext cx="5200650" cy="266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2250" y="1295400"/>
            <a:ext cx="47434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949494"/>
                </a:solidFill>
                <a:latin typeface="Lato"/>
              </a:rPr>
              <a:t>INMUEBLES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1562100"/>
            <a:ext cx="474345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4243"/>
                </a:solidFill>
                <a:latin typeface="Lato"/>
              </a:rPr>
              <a:t>"Busca, filtra y decide sin que tu cuñado te aconseje."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2514600"/>
            <a:ext cx="47434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DC006B"/>
                </a:solidFill>
                <a:latin typeface="Lato"/>
              </a:rPr>
              <a:t>Para lo importante — encuentra24.com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2781300"/>
            <a:ext cx="47434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Mupi paradas de bus / Multiplaza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34800" y="1143000"/>
            <a:ext cx="5200650" cy="266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63400" y="1295400"/>
            <a:ext cx="47434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949494"/>
                </a:solidFill>
                <a:latin typeface="Lato"/>
              </a:rPr>
              <a:t>EMPLEO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63400" y="1562100"/>
            <a:ext cx="474345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4243"/>
                </a:solidFill>
                <a:latin typeface="Lato"/>
              </a:rPr>
              <a:t>"El trabajo que sí querías estaba aquí todo el tiempo."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63400" y="2514600"/>
            <a:ext cx="47434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DC006B"/>
                </a:solidFill>
                <a:latin typeface="Lato"/>
              </a:rPr>
              <a:t>Para lo importante — encuentra24.com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63400" y="2781300"/>
            <a:ext cx="47434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OOH Digital Albrook / Metro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2500" y="4076700"/>
            <a:ext cx="16383000" cy="571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8250" y="4229100"/>
            <a:ext cx="15811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Todas las piezas incluyen código QR → WhatsApp con oferta exclusiva por categoría</a:t>
            </a:r>
          </a:p>
        </p:txBody>
      </p:sp>
      <p:pic>
        <p:nvPicPr>
          <p:cNvPr id="21" name="Picture 20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888888"/>
                </a:solidFill>
                <a:latin typeface="Lato"/>
              </a:rPr>
              <a:t>🇵🇦 Panamá · Key Art Vertical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14400"/>
            <a:ext cx="571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ato"/>
              </a:rPr>
              <a:t>Key visual
vertical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571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Lato"/>
              </a:rPr>
              <a:t>Proporción A4 · Aplicación en prensa, revista,
material impreso y redes verticales (Stories).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95275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888888"/>
                </a:solidFill>
                <a:latin typeface="Lato"/>
              </a:rPr>
              <a:t>→ WhatsApp promo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1945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888888"/>
                </a:solidFill>
                <a:latin typeface="Lato"/>
              </a:rPr>
              <a:t>→ Material punto de venta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8615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888888"/>
                </a:solidFill>
                <a:latin typeface="Lato"/>
              </a:rPr>
              <a:t>→ Instagram / Facebook Stories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305050"/>
            <a:ext cx="4000500" cy="5667375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591050"/>
            <a:ext cx="4000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55555"/>
                </a:solidFill>
                <a:latin typeface="Lato"/>
              </a:rPr>
              <a:t>KEY ART VERTICAL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933950"/>
            <a:ext cx="4000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0" i="0">
                <a:solidFill>
                  <a:srgbClr val="777777"/>
                </a:solidFill>
                <a:latin typeface="Lato"/>
              </a:rPr>
              <a:t>Proporción A4 · 210 × 297 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20500" y="2305050"/>
            <a:ext cx="4000500" cy="5667375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20500" y="4591050"/>
            <a:ext cx="4000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55555"/>
                </a:solidFill>
                <a:latin typeface="Lato"/>
              </a:rPr>
              <a:t>KEY ART B2B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0" y="4933950"/>
            <a:ext cx="4000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0" i="0">
                <a:solidFill>
                  <a:srgbClr val="777777"/>
                </a:solidFill>
                <a:latin typeface="Lato"/>
              </a:rPr>
              <a:t>Proporción A4 · 210 × 297 mm</a:t>
            </a:r>
          </a:p>
        </p:txBody>
      </p:sp>
      <p:pic>
        <p:nvPicPr>
          <p:cNvPr id="14" name="Picture 1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90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ato"/>
              </a:rPr>
              <a:t>🇨🇷</a:t>
            </a:r>
          </a:p>
        </p:txBody>
      </p:sp>
      <p:sp>
        <p:nvSpPr>
          <p:cNvPr id="4" name="Rectangle 3"/>
          <p:cNvSpPr/>
          <p:nvPr/>
        </p:nvSpPr>
        <p:spPr>
          <a:xfrm>
            <a:off x="1333500" y="762000"/>
            <a:ext cx="2476500" cy="24765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2550" y="771525"/>
            <a:ext cx="243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Lato"/>
              </a:rPr>
              <a:t>Costa Rica · Mercado en conquista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38250"/>
            <a:ext cx="8001000" cy="20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Lato"/>
              </a:rPr>
              <a:t>"El que sabe,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Lato"/>
              </a:rPr>
              <a:t>no se queda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Lato"/>
              </a:rPr>
              <a:t>a medias."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619500"/>
            <a:ext cx="381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3810000"/>
            <a:ext cx="8001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Lato"/>
              </a:rPr>
              <a:t>Posiciona por identidad, no por argumento. El tico NSE medio-alto que toma decisiones importantes quiere verse como alguien que decide bien.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34500" y="762000"/>
            <a:ext cx="8382000" cy="1143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63100" y="914400"/>
            <a:ext cx="800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CCCCCC"/>
                </a:solidFill>
                <a:latin typeface="Lato"/>
              </a:rPr>
              <a:t>CR AUTOS — EL RIVAL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63100" y="1181100"/>
            <a:ext cx="8001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Lato"/>
              </a:rPr>
              <a:t>Domina autos. Alta recordación. Pero solo autos.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34500" y="2095500"/>
            <a:ext cx="8382000" cy="1714500"/>
          </a:xfrm>
          <a:prstGeom prst="rect">
            <a:avLst/>
          </a:prstGeom>
          <a:solidFill>
            <a:srgbClr val="336666"/>
          </a:solidFill>
          <a:ln w="12700">
            <a:solidFill>
              <a:srgbClr val="77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63100" y="2247900"/>
            <a:ext cx="800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FFFFFF"/>
                </a:solidFill>
                <a:latin typeface="Lato"/>
              </a:rPr>
              <a:t>ENCUENTRA24 — LA OPORTUNIDAD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3100" y="2552700"/>
            <a:ext cx="800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Lato"/>
              </a:rPr>
              <a:t>✓ Autos + Inmuebles + Empleos +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63100" y="2933700"/>
            <a:ext cx="800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Lato"/>
              </a:rPr>
              <a:t>✓ Lead calificado B2B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63100" y="3314700"/>
            <a:ext cx="800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Lato"/>
              </a:rPr>
              <a:t>✓ Rediseño UX/UI en curso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0" y="4000500"/>
            <a:ext cx="838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1">
                <a:solidFill>
                  <a:srgbClr val="888888"/>
                </a:solidFill>
                <a:latin typeface="Lato"/>
              </a:rPr>
              <a:t>CR Autos gana en profundidad. Encuentra24 gana en amplitud.</a:t>
            </a:r>
          </a:p>
        </p:txBody>
      </p:sp>
      <p:pic>
        <p:nvPicPr>
          <p:cNvPr id="18" name="Picture 17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76250"/>
            <a:ext cx="95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Lato"/>
              </a:rPr>
              <a:t>🇨🇷</a:t>
            </a:r>
          </a:p>
        </p:txBody>
      </p:sp>
      <p:sp>
        <p:nvSpPr>
          <p:cNvPr id="3" name="Rectangle 2"/>
          <p:cNvSpPr/>
          <p:nvPr/>
        </p:nvSpPr>
        <p:spPr>
          <a:xfrm>
            <a:off x="1333500" y="495300"/>
            <a:ext cx="2476500" cy="2286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52550" y="504825"/>
            <a:ext cx="24384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Lato"/>
              </a:rPr>
              <a:t>OOH · Valla Digital 16:9 · Costa 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500" y="533400"/>
            <a:ext cx="857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Lato"/>
              </a:rPr>
              <a:t>La Sabana · Escazú · Multiplaza · Autopista Cañas · Ruta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952500"/>
            <a:ext cx="16764000" cy="81915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572000"/>
            <a:ext cx="16764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55555"/>
                </a:solidFill>
                <a:latin typeface="Lato"/>
              </a:rPr>
              <a:t>MOCKUP VALLA / MUPI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219700"/>
            <a:ext cx="16764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77777"/>
                </a:solidFill>
                <a:latin typeface="Lato"/>
              </a:rPr>
              <a:t>Proporción 16:9  ·  Insertar arte final aquí</a:t>
            </a:r>
          </a:p>
        </p:txBody>
      </p:sp>
      <p:pic>
        <p:nvPicPr>
          <p:cNvPr id="9" name="Picture 8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" cy="1028700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000" cy="10287000"/>
          </a:xfrm>
          <a:prstGeom prst="rect">
            <a:avLst/>
          </a:prstGeom>
          <a:solidFill>
            <a:srgbClr val="434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500" y="533400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Lato"/>
              </a:rPr>
              <a:t>🇨🇷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33400"/>
            <a:ext cx="1238250" cy="22860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0550" y="542925"/>
            <a:ext cx="12001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Lato"/>
              </a:rPr>
              <a:t>TV · Spot 30" · B2C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" y="952500"/>
            <a:ext cx="2667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Lato"/>
              </a:rPr>
              <a:t>"El apartamento
y el carro"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500" y="1828800"/>
            <a:ext cx="381000" cy="3810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500" y="2019300"/>
            <a:ext cx="2667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1">
                <a:solidFill>
                  <a:srgbClr val="AAAAAA"/>
                </a:solidFill>
                <a:latin typeface="Lato"/>
              </a:rPr>
              <a:t>"El que sabe, no se queda a medias."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" y="3048000"/>
            <a:ext cx="2667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Lato"/>
              </a:rPr>
              <a:t>▣ ESPN · Fox Sports · 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" y="3314700"/>
            <a:ext cx="2667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Lato"/>
              </a:rPr>
              <a:t>Franja 7–10PM · Spot 30"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600" y="457200"/>
            <a:ext cx="666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7D8F"/>
                </a:solidFill>
                <a:latin typeface="Lato"/>
              </a:rPr>
              <a:t>GUIÓN 30" — Pareja joven tica, dos grandes decisiones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600" y="762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77D8F"/>
                </a:solidFill>
                <a:latin typeface="Lato"/>
              </a:rPr>
              <a:t>0–6"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2900" y="762000"/>
            <a:ext cx="133350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Pareja sentada en la mesa, cara de decisión importante. Llaves de carro sobre la mesa, laptop abierta con listados. Sin diálogo. Tensión real.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6600" y="2171700"/>
            <a:ext cx="144780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6600" y="24765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9494"/>
                </a:solidFill>
                <a:latin typeface="Lato"/>
              </a:rPr>
              <a:t>6–18"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2900" y="2476500"/>
            <a:ext cx="133350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ÉL: "¿Empezamos por el carro o el apartamento?" Ella abre Encuentra24. En segundos filtra autos y apartamentos en paralelo.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6600" y="3886200"/>
            <a:ext cx="144780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6600" y="4191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9494"/>
                </a:solidFill>
                <a:latin typeface="Lato"/>
              </a:rPr>
              <a:t>18–26"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2900" y="4191000"/>
            <a:ext cx="133350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Corte: exterior luminoso. Están en el carro nuevo, saliendo de su nuevo apartamento. Sonríen. Sin caos, sin arrepentimiento.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6600" y="5600700"/>
            <a:ext cx="144780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76600" y="59055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77D8F"/>
                </a:solidFill>
                <a:latin typeface="Lato"/>
              </a:rPr>
              <a:t>26–30"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2900" y="5905500"/>
            <a:ext cx="133350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LOC OFF: "Para lo importante… Encuentra24.com"</a:t>
            </a:r>
          </a:p>
        </p:txBody>
      </p:sp>
      <p:pic>
        <p:nvPicPr>
          <p:cNvPr id="24" name="Picture 23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" cy="1028700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000" cy="10287000"/>
          </a:xfrm>
          <a:prstGeom prst="rect">
            <a:avLst/>
          </a:prstGeom>
          <a:solidFill>
            <a:srgbClr val="434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0500" y="533400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Lato"/>
              </a:rPr>
              <a:t>🇨🇷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33400"/>
            <a:ext cx="1238250" cy="22860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0550" y="542925"/>
            <a:ext cx="12001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Lato"/>
              </a:rPr>
              <a:t>TV · Spot 30" · B2B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" y="952500"/>
            <a:ext cx="2667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Lato"/>
              </a:rPr>
              <a:t>"La corredora
que sabe"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500" y="1828800"/>
            <a:ext cx="381000" cy="3810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500" y="2019300"/>
            <a:ext cx="2667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AAAAAA"/>
                </a:solidFill>
                <a:latin typeface="Lato"/>
              </a:rPr>
              <a:t>Pauta TV paga noticias + deportivos. 7–10PM.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" y="3048000"/>
            <a:ext cx="2667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Lato"/>
              </a:rPr>
              <a:t>▣ ESPN · Fox Sports · 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" y="3314700"/>
            <a:ext cx="2667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Lato"/>
              </a:rPr>
              <a:t>Segmento inmobiliarias y concesionarios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600" y="457200"/>
            <a:ext cx="762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7D8F"/>
                </a:solidFill>
                <a:latin typeface="Lato"/>
              </a:rPr>
              <a:t>GUIÓN 30" — Corredora inmobiliaria, autoridad de categoría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600" y="762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77D8F"/>
                </a:solidFill>
                <a:latin typeface="Lato"/>
              </a:rPr>
              <a:t>0–8"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2900" y="762000"/>
            <a:ext cx="13335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Corredora inmobiliaria frente a dos pantallas: portal básico vs. Encuentra24. El contraste visual habla solo. Sin diálogo aún.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6600" y="2324100"/>
            <a:ext cx="144780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6600" y="2667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9494"/>
                </a:solidFill>
                <a:latin typeface="Lato"/>
              </a:rPr>
              <a:t>8–22"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2900" y="2667000"/>
            <a:ext cx="13335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LOC ON (ella): "Mis clientes no solo buscan casa. Buscan casa, trabajo, carro… por eso uso la plataforma que tiene todo."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6600" y="4229100"/>
            <a:ext cx="144780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6600" y="4572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006B"/>
                </a:solidFill>
                <a:latin typeface="Lato"/>
              </a:rPr>
              <a:t>22–30"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2900" y="4572000"/>
            <a:ext cx="13335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"Para lo importante… Encuentra24."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6600" y="6134100"/>
            <a:ext cx="144780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76600" y="6477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77D8F"/>
                </a:solidFill>
                <a:latin typeface="Lato"/>
              </a:rPr>
              <a:t>COPY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2900" y="6477000"/>
            <a:ext cx="13335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434243"/>
                </a:solidFill>
                <a:latin typeface="Lato"/>
              </a:rPr>
              <a:t>OOH: "Buscaste carro. Encontraste trabajo. Todo en el mismo lugar. Para lo importante — encuentra24.com" (Valla Ruta 27)</a:t>
            </a:r>
          </a:p>
        </p:txBody>
      </p:sp>
      <p:pic>
        <p:nvPicPr>
          <p:cNvPr id="24" name="Picture 23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888888"/>
                </a:solidFill>
                <a:latin typeface="Lato"/>
              </a:rPr>
              <a:t>🇨🇷 Costa Rica · Key Art Vertical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14400"/>
            <a:ext cx="571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ato"/>
              </a:rPr>
              <a:t>Key visual
vertical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5715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Lato"/>
              </a:rPr>
              <a:t>Proporción A4 · Tono aspiracional y sofisticado para mercado costarricense.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8575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888888"/>
                </a:solidFill>
                <a:latin typeface="Lato"/>
              </a:rPr>
              <a:t>→ Pauta prensa impresa San José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242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888888"/>
                </a:solidFill>
                <a:latin typeface="Lato"/>
              </a:rPr>
              <a:t>→ Material punto de venta B2B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90900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888888"/>
                </a:solidFill>
                <a:latin typeface="Lato"/>
              </a:rPr>
              <a:t>→ Instagram Stories / Reels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305050"/>
            <a:ext cx="4000500" cy="5667375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591050"/>
            <a:ext cx="4000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55555"/>
                </a:solidFill>
                <a:latin typeface="Lato"/>
              </a:rPr>
              <a:t>KEY ART B2C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933950"/>
            <a:ext cx="4000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0" i="0">
                <a:solidFill>
                  <a:srgbClr val="777777"/>
                </a:solidFill>
                <a:latin typeface="Lato"/>
              </a:rPr>
              <a:t>A4 · 210 × 297 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20500" y="2305050"/>
            <a:ext cx="4000500" cy="5667375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20500" y="4591050"/>
            <a:ext cx="4000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55555"/>
                </a:solidFill>
                <a:latin typeface="Lato"/>
              </a:rPr>
              <a:t>KEY ART B2B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0" y="4933950"/>
            <a:ext cx="4000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0" i="0">
                <a:solidFill>
                  <a:srgbClr val="777777"/>
                </a:solidFill>
                <a:latin typeface="Lato"/>
              </a:rPr>
              <a:t>A4 · 210 × 297 mm</a:t>
            </a:r>
          </a:p>
        </p:txBody>
      </p:sp>
      <p:pic>
        <p:nvPicPr>
          <p:cNvPr id="14" name="Picture 1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00" y="571500"/>
            <a:ext cx="533400" cy="47625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762000"/>
            <a:ext cx="1333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C006B"/>
                </a:solidFill>
                <a:latin typeface="Lato"/>
              </a:rPr>
              <a:t>¿Qué pasa después de ver la publicidad?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200" y="1524000"/>
            <a:ext cx="609600" cy="6096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200" y="1657350"/>
            <a:ext cx="609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362200"/>
            <a:ext cx="2667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1" i="0">
                <a:solidFill>
                  <a:srgbClr val="434243"/>
                </a:solidFill>
                <a:latin typeface="Lato"/>
              </a:rPr>
              <a:t>Impacto ATL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705100"/>
            <a:ext cx="266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9494"/>
                </a:solidFill>
                <a:latin typeface="Lato"/>
              </a:rPr>
              <a:t>Valla / TV / Mupis
Visibilidad masiva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4750" y="1790700"/>
            <a:ext cx="457200" cy="1905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76800" y="1524000"/>
            <a:ext cx="609600" cy="6096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800" y="1657350"/>
            <a:ext cx="609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100" y="2362200"/>
            <a:ext cx="2667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1" i="0">
                <a:solidFill>
                  <a:srgbClr val="434243"/>
                </a:solidFill>
                <a:latin typeface="Lato"/>
              </a:rPr>
              <a:t>Activación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8100" y="2705100"/>
            <a:ext cx="266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9494"/>
                </a:solidFill>
                <a:latin typeface="Lato"/>
              </a:rPr>
              <a:t>QR en TV y OOH
App / Web / WhatsApp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10350" y="1790700"/>
            <a:ext cx="457200" cy="1905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1524000"/>
            <a:ext cx="609600" cy="60960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657350"/>
            <a:ext cx="609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700" y="2362200"/>
            <a:ext cx="2667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1" i="0">
                <a:solidFill>
                  <a:srgbClr val="434243"/>
                </a:solidFill>
                <a:latin typeface="Lato"/>
              </a:rPr>
              <a:t>Exploración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2705100"/>
            <a:ext cx="266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9494"/>
                </a:solidFill>
                <a:latin typeface="Lato"/>
              </a:rPr>
              <a:t>Nueva página por categoría
Buscador inteligente E24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5950" y="1790700"/>
            <a:ext cx="457200" cy="1905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68000" y="1524000"/>
            <a:ext cx="609600" cy="609600"/>
          </a:xfrm>
          <a:prstGeom prst="rect">
            <a:avLst/>
          </a:prstGeom>
          <a:solidFill>
            <a:srgbClr val="84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0" y="1657350"/>
            <a:ext cx="609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at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9300" y="2362200"/>
            <a:ext cx="2667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1" i="0">
                <a:solidFill>
                  <a:srgbClr val="434243"/>
                </a:solidFill>
                <a:latin typeface="Lato"/>
              </a:rPr>
              <a:t>Conversión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9300" y="2705100"/>
            <a:ext cx="266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9494"/>
                </a:solidFill>
                <a:latin typeface="Lato"/>
              </a:rPr>
              <a:t>Lead calificado B2B
Contacto con vendedor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401550" y="1790700"/>
            <a:ext cx="457200" cy="1905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563600" y="1524000"/>
            <a:ext cx="609600" cy="6096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63600" y="1657350"/>
            <a:ext cx="609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at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34900" y="2362200"/>
            <a:ext cx="2667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1" i="0">
                <a:solidFill>
                  <a:srgbClr val="434243"/>
                </a:solidFill>
                <a:latin typeface="Lato"/>
              </a:rPr>
              <a:t>Fidelización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34900" y="2705100"/>
            <a:ext cx="266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9494"/>
                </a:solidFill>
                <a:latin typeface="Lato"/>
              </a:rPr>
              <a:t>Push / Email
Alertas personalizadas</a:t>
            </a:r>
          </a:p>
        </p:txBody>
      </p:sp>
      <p:pic>
        <p:nvPicPr>
          <p:cNvPr id="28" name="Picture 27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53000" cy="102870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238500"/>
            <a:ext cx="857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AAAAAA"/>
                </a:solidFill>
                <a:latin typeface="Lat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19500"/>
            <a:ext cx="104775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Lato"/>
              </a:rPr>
              <a:t>Estrategia</a:t>
            </a:r>
          </a:p>
          <a:p>
            <a:pPr algn="l"/>
            <a:r>
              <a:rPr sz="6000" b="1" i="0">
                <a:solidFill>
                  <a:srgbClr val="FFFFFF"/>
                </a:solidFill>
                <a:latin typeface="Lato"/>
              </a:rPr>
              <a:t>de medios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15000"/>
            <a:ext cx="104775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CCCCCC"/>
                </a:solidFill>
                <a:latin typeface="Lato"/>
              </a:rPr>
              <a:t>OOH + TV Paga como pilares · Panamá 60% · Costa Rica 40%</a:t>
            </a:r>
          </a:p>
        </p:txBody>
      </p:sp>
      <p:pic>
        <p:nvPicPr>
          <p:cNvPr id="6" name="Picture 5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76250"/>
            <a:ext cx="571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Lato"/>
              </a:rPr>
              <a:t>🇵🇦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09700" y="495300"/>
            <a:ext cx="71628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34243"/>
                </a:solidFill>
                <a:latin typeface="Lato"/>
              </a:rPr>
              <a:t>Panamá — 60% de la inversión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76300"/>
            <a:ext cx="7810500" cy="342900"/>
          </a:xfrm>
          <a:prstGeom prst="rect">
            <a:avLst/>
          </a:prstGeom>
          <a:solidFill>
            <a:srgbClr val="434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52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AAAAAA"/>
                </a:solidFill>
                <a:latin typeface="Lato"/>
              </a:rPr>
              <a:t>MEDIO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62300" y="952500"/>
            <a:ext cx="52578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AAAAAA"/>
                </a:solidFill>
                <a:latin typeface="Lato"/>
              </a:rPr>
              <a:t>DETALLE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219200"/>
            <a:ext cx="7810500" cy="12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33500"/>
            <a:ext cx="2095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DC006B"/>
                </a:solidFill>
                <a:latin typeface="Lato"/>
              </a:rPr>
              <a:t>OOH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38300"/>
            <a:ext cx="2095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9494"/>
                </a:solidFill>
                <a:latin typeface="Lato"/>
              </a:rPr>
              <a:t>Afinidad 97%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1333500"/>
            <a:ext cx="5257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4243"/>
                </a:solidFill>
                <a:latin typeface="Lato"/>
              </a:rPr>
              <a:t>Albrook, Multiplaza, Altaplaza, Metro de Panamá. Mensajes dinámicos.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2552700"/>
            <a:ext cx="7810500" cy="121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67000"/>
            <a:ext cx="2095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DC006B"/>
                </a:solidFill>
                <a:latin typeface="Lato"/>
              </a:rPr>
              <a:t>TV Paga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2095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9494"/>
                </a:solidFill>
                <a:latin typeface="Lato"/>
              </a:rPr>
              <a:t>Afinidad 81%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2300" y="2667000"/>
            <a:ext cx="5257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4243"/>
                </a:solidFill>
                <a:latin typeface="Lato"/>
              </a:rPr>
              <a:t>ESPN, TNT, Cinemax, Warner. Franja 7–10PM. Spots 30"+15".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886200"/>
            <a:ext cx="7810500" cy="12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00500"/>
            <a:ext cx="2095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OOH Clásico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05300"/>
            <a:ext cx="2095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9494"/>
                </a:solidFill>
                <a:latin typeface="Lato"/>
              </a:rPr>
              <a:t>Afinidad 86%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2300" y="4000500"/>
            <a:ext cx="5257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4243"/>
                </a:solidFill>
                <a:latin typeface="Lato"/>
              </a:rPr>
              <a:t>Vallas Cinta Costera, Vía España, Transistmica. Mupis y paradas.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5219700"/>
            <a:ext cx="7810500" cy="121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34000"/>
            <a:ext cx="2095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949494"/>
                </a:solidFill>
                <a:latin typeface="Lato"/>
              </a:rPr>
              <a:t>Radio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38800"/>
            <a:ext cx="2095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9494"/>
                </a:solidFill>
                <a:latin typeface="Lato"/>
              </a:rPr>
              <a:t>Afinidad 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2300" y="5334000"/>
            <a:ext cx="5257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4243"/>
                </a:solidFill>
                <a:latin typeface="Lato"/>
              </a:rPr>
              <a:t>Wao 97.1, RPC, TVN Radio. Tramos AM/PM. Apoyo de frecuencia.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0" y="476250"/>
            <a:ext cx="571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Lato"/>
              </a:rPr>
              <a:t>🇨🇷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95300"/>
            <a:ext cx="71628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34243"/>
                </a:solidFill>
                <a:latin typeface="Lato"/>
              </a:rPr>
              <a:t>Costa Rica — 40% de la inversión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53500" y="876300"/>
            <a:ext cx="7810500" cy="342900"/>
          </a:xfrm>
          <a:prstGeom prst="rect">
            <a:avLst/>
          </a:prstGeom>
          <a:solidFill>
            <a:srgbClr val="434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5900" y="952500"/>
            <a:ext cx="190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AAAAAA"/>
                </a:solidFill>
                <a:latin typeface="Lato"/>
              </a:rPr>
              <a:t>MEDIO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53800" y="952500"/>
            <a:ext cx="52578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AAAAAA"/>
                </a:solidFill>
                <a:latin typeface="Lato"/>
              </a:rPr>
              <a:t>DETALLE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53500" y="1219200"/>
            <a:ext cx="7810500" cy="12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5900" y="1333500"/>
            <a:ext cx="2095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077D8F"/>
                </a:solidFill>
                <a:latin typeface="Lato"/>
              </a:rPr>
              <a:t>OOH Digital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900" y="1638300"/>
            <a:ext cx="2095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9494"/>
                </a:solidFill>
                <a:latin typeface="Lato"/>
              </a:rPr>
              <a:t>Relevancia alta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53800" y="1333500"/>
            <a:ext cx="5257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4243"/>
                </a:solidFill>
                <a:latin typeface="Lato"/>
              </a:rPr>
              <a:t>La Sabana, Escazú, Multiplaza. Rutas hacia Alajuela y Heredia.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3500" y="2552700"/>
            <a:ext cx="7810500" cy="121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05900" y="2667000"/>
            <a:ext cx="2095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077D8F"/>
                </a:solidFill>
                <a:latin typeface="Lato"/>
              </a:rPr>
              <a:t>TV Paga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5900" y="2971800"/>
            <a:ext cx="2095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9494"/>
                </a:solidFill>
                <a:latin typeface="Lato"/>
              </a:rPr>
              <a:t>Relevancia alta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53800" y="2667000"/>
            <a:ext cx="5257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4243"/>
                </a:solidFill>
                <a:latin typeface="Lato"/>
              </a:rPr>
              <a:t>ESPN, Fox Sports, CNN. Segmento 30–50 años tomadores de decisión.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53500" y="3886200"/>
            <a:ext cx="7810500" cy="12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5900" y="4000500"/>
            <a:ext cx="2095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OOH Clásico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5900" y="4305300"/>
            <a:ext cx="2095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9494"/>
                </a:solidFill>
                <a:latin typeface="Lato"/>
              </a:rPr>
              <a:t>Relevancia alta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53800" y="4000500"/>
            <a:ext cx="5257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4243"/>
                </a:solidFill>
                <a:latin typeface="Lato"/>
              </a:rPr>
              <a:t>Autopista General Cañas, Ruta 27, Vía Lindora. Zonas comerciales.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53500" y="5219700"/>
            <a:ext cx="7810500" cy="121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05900" y="5334000"/>
            <a:ext cx="2095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949494"/>
                </a:solidFill>
                <a:latin typeface="Lato"/>
              </a:rPr>
              <a:t>Radio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05900" y="5638800"/>
            <a:ext cx="2095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9494"/>
                </a:solidFill>
                <a:latin typeface="Lato"/>
              </a:rPr>
              <a:t>Relevancia media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53800" y="5334000"/>
            <a:ext cx="5257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4243"/>
                </a:solidFill>
                <a:latin typeface="Lato"/>
              </a:rPr>
              <a:t>99.9 Noticias, Monumental, Hit FM. Mañanas y tardes. Apoyo B2B.</a:t>
            </a:r>
          </a:p>
        </p:txBody>
      </p:sp>
      <p:pic>
        <p:nvPicPr>
          <p:cNvPr id="44" name="Picture 43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00" y="571500"/>
            <a:ext cx="533400" cy="47625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762000"/>
            <a:ext cx="11430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C006B"/>
                </a:solidFill>
                <a:latin typeface="Lato"/>
              </a:rPr>
              <a:t>USD $465,000 — Distribución de presupuesto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52500" y="1143000"/>
            <a:ext cx="2667000" cy="952500"/>
          </a:xfrm>
          <a:prstGeom prst="rect">
            <a:avLst/>
          </a:prstGeom>
          <a:solidFill>
            <a:srgbClr val="434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500" y="1333500"/>
            <a:ext cx="2667000" cy="49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Lato"/>
              </a:rPr>
              <a:t>$465K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1905000"/>
            <a:ext cx="2667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Lato"/>
              </a:rPr>
              <a:t>Total inversión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952500" y="2247900"/>
            <a:ext cx="2667000" cy="571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900" y="2362200"/>
            <a:ext cx="1333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Creatividad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8400" y="2362200"/>
            <a:ext cx="1143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C006B"/>
                </a:solidFill>
                <a:latin typeface="Lato"/>
              </a:rPr>
              <a:t>$93K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933700"/>
            <a:ext cx="2667000" cy="57150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900" y="3048000"/>
            <a:ext cx="1333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FFFFFF"/>
                </a:solidFill>
                <a:latin typeface="Lato"/>
              </a:rPr>
              <a:t>Medios 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8400" y="3048000"/>
            <a:ext cx="1143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C006B"/>
                </a:solidFill>
                <a:latin typeface="Lato"/>
              </a:rPr>
              <a:t>$372K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500" y="1143000"/>
            <a:ext cx="6096000" cy="266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2900" y="1257300"/>
            <a:ext cx="571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Lato"/>
              </a:rPr>
              <a:t>🇵🇦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295400"/>
            <a:ext cx="2857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34243"/>
                </a:solidFill>
                <a:latin typeface="Lato"/>
              </a:rPr>
              <a:t>Panamá 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8100" y="1257300"/>
            <a:ext cx="2286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C006B"/>
                </a:solidFill>
                <a:latin typeface="Lato"/>
              </a:rPr>
              <a:t>$223,200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2900" y="17145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OOH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8100" y="17145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80" b="1" i="0">
                <a:solidFill>
                  <a:srgbClr val="434243"/>
                </a:solidFill>
                <a:latin typeface="Lato"/>
              </a:rPr>
              <a:t>$84,816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2900" y="22098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TV Paga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8100" y="2209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80" b="1" i="0">
                <a:solidFill>
                  <a:srgbClr val="434243"/>
                </a:solidFill>
                <a:latin typeface="Lato"/>
              </a:rPr>
              <a:t>$71,424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2900" y="27051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OOH Clásico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8100" y="27051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80" b="1" i="0">
                <a:solidFill>
                  <a:srgbClr val="434243"/>
                </a:solidFill>
                <a:latin typeface="Lato"/>
              </a:rPr>
              <a:t>$44,640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2900" y="32004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Radio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8100" y="3200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80" b="1" i="0">
                <a:solidFill>
                  <a:srgbClr val="434243"/>
                </a:solidFill>
                <a:latin typeface="Lato"/>
              </a:rPr>
              <a:t>$22,320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77500" y="1143000"/>
            <a:ext cx="6096000" cy="266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29900" y="1257300"/>
            <a:ext cx="571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Lato"/>
              </a:rPr>
              <a:t>🇨🇷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600" y="1295400"/>
            <a:ext cx="2857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34243"/>
                </a:solidFill>
                <a:latin typeface="Lato"/>
              </a:rPr>
              <a:t>Costa Rica 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35100" y="1257300"/>
            <a:ext cx="2286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77D8F"/>
                </a:solidFill>
                <a:latin typeface="Lato"/>
              </a:rPr>
              <a:t>$148,800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9900" y="17145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OOH Digital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35100" y="17145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80" b="1" i="0">
                <a:solidFill>
                  <a:srgbClr val="434243"/>
                </a:solidFill>
                <a:latin typeface="Lato"/>
              </a:rPr>
              <a:t>$52,080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29900" y="22098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TV Paga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35100" y="2209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80" b="1" i="0">
                <a:solidFill>
                  <a:srgbClr val="434243"/>
                </a:solidFill>
                <a:latin typeface="Lato"/>
              </a:rPr>
              <a:t>$52,080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29900" y="27051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OOH Clásico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35100" y="27051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80" b="1" i="0">
                <a:solidFill>
                  <a:srgbClr val="434243"/>
                </a:solidFill>
                <a:latin typeface="Lato"/>
              </a:rPr>
              <a:t>$29,760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29900" y="32004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Radio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35100" y="3200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80" b="1" i="0">
                <a:solidFill>
                  <a:srgbClr val="434243"/>
                </a:solidFill>
                <a:latin typeface="Lato"/>
              </a:rPr>
              <a:t>$14,880</a:t>
            </a:r>
          </a:p>
        </p:txBody>
      </p:sp>
      <p:pic>
        <p:nvPicPr>
          <p:cNvPr id="37" name="Picture 3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00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3238500"/>
            <a:ext cx="857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CCCCCC"/>
                </a:solidFill>
                <a:latin typeface="Lato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619500"/>
            <a:ext cx="104775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Lato"/>
              </a:rPr>
              <a:t>Plan de</a:t>
            </a:r>
          </a:p>
          <a:p>
            <a:pPr algn="l"/>
            <a:r>
              <a:rPr sz="6000" b="1" i="0">
                <a:solidFill>
                  <a:srgbClr val="FFFFFF"/>
                </a:solidFill>
                <a:latin typeface="Lato"/>
              </a:rPr>
              <a:t>campaña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715000"/>
            <a:ext cx="11430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FFFFFF"/>
                </a:solidFill>
                <a:latin typeface="Lato"/>
              </a:rPr>
              <a:t>Lanzamiento de alto impacto → Sostenimiento estratégico</a:t>
            </a:r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00" y="571500"/>
            <a:ext cx="533400" cy="47625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762000"/>
            <a:ext cx="13335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C006B"/>
                </a:solidFill>
                <a:latin typeface="Lato"/>
              </a:rPr>
              <a:t>5 meses · Arquitectura de campaña por fases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52500" y="1143000"/>
            <a:ext cx="4953000" cy="381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2500" y="1295400"/>
            <a:ext cx="2095500" cy="2667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1550" y="1304925"/>
            <a:ext cx="20574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Lato"/>
              </a:rPr>
              <a:t>Fase 1 · Mes 1–2 · 45%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1714500"/>
            <a:ext cx="4953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34243"/>
                </a:solidFill>
                <a:latin typeface="Lato"/>
              </a:rPr>
              <a:t>Lanzamiento
de alto impacto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438400"/>
            <a:ext cx="495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→  Lanzamiento simultáneo PA +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705100"/>
            <a:ext cx="495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→  Máxima cobertura OOH (todos los formatos)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2971800"/>
            <a:ext cx="495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→  TV Paga: prime time + deportivo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238500"/>
            <a:ext cx="495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→  Activación digital integrada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505200"/>
            <a:ext cx="495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→  PR social de campaña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500" y="5143500"/>
            <a:ext cx="4953000" cy="762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0" y="1143000"/>
            <a:ext cx="4953000" cy="3810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0" y="1295400"/>
            <a:ext cx="2095500" cy="26670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5050" y="1304925"/>
            <a:ext cx="20574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Lato"/>
              </a:rPr>
              <a:t>Fase 2 · Mes 3–4 · 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1714500"/>
            <a:ext cx="4953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34243"/>
                </a:solidFill>
                <a:latin typeface="Lato"/>
              </a:rPr>
              <a:t>Consolidación
de mensaje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2438400"/>
            <a:ext cx="495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→  Mantenimiento OOH top ubicaciones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2705100"/>
            <a:ext cx="495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→  TV Paga: frecuencia reducida, más selectiva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2971800"/>
            <a:ext cx="495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→  Campañas segmentadas B2B por categoría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3238500"/>
            <a:ext cx="495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→  Radio para capping de frecuencia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5143500"/>
            <a:ext cx="3714750" cy="7620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239500" y="1143000"/>
            <a:ext cx="4953000" cy="38100"/>
          </a:xfrm>
          <a:prstGeom prst="rect">
            <a:avLst/>
          </a:prstGeom>
          <a:solidFill>
            <a:srgbClr val="84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239500" y="1295400"/>
            <a:ext cx="2095500" cy="266700"/>
          </a:xfrm>
          <a:prstGeom prst="rect">
            <a:avLst/>
          </a:prstGeom>
          <a:solidFill>
            <a:srgbClr val="84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58550" y="1304925"/>
            <a:ext cx="20574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Lato"/>
              </a:rPr>
              <a:t>Fase 3 · Mes 5–6 · 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39500" y="1714500"/>
            <a:ext cx="4953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34243"/>
                </a:solidFill>
                <a:latin typeface="Lato"/>
              </a:rPr>
              <a:t>Sostenimiento
&amp;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39500" y="2438400"/>
            <a:ext cx="495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→  OOH residual en ubicaciones premium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39500" y="2705100"/>
            <a:ext cx="495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→  Activación por temporada / evento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39500" y="2971800"/>
            <a:ext cx="495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→  Medición y reporte NPS + ToM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39500" y="3238500"/>
            <a:ext cx="495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949494"/>
                </a:solidFill>
                <a:latin typeface="Lato"/>
              </a:rPr>
              <a:t>→  Briefing campaña siguiente ciclo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239500" y="5143500"/>
            <a:ext cx="2228850" cy="76200"/>
          </a:xfrm>
          <a:prstGeom prst="rect">
            <a:avLst/>
          </a:prstGeom>
          <a:solidFill>
            <a:srgbClr val="84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53000" cy="1028700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238500"/>
            <a:ext cx="8572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AAAAAA"/>
                </a:solidFill>
                <a:latin typeface="Lato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19500"/>
            <a:ext cx="104775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Lato"/>
              </a:rPr>
              <a:t>KPIs &amp;</a:t>
            </a:r>
          </a:p>
          <a:p>
            <a:pPr algn="l"/>
            <a:r>
              <a:rPr sz="6000" b="1" i="0">
                <a:solidFill>
                  <a:srgbClr val="FFFFFF"/>
                </a:solidFill>
                <a:latin typeface="Lato"/>
              </a:rPr>
              <a:t>medición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15000"/>
            <a:ext cx="9525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CCCCCC"/>
                </a:solidFill>
                <a:latin typeface="Lato"/>
              </a:rPr>
              <a:t>Indicadores de marca, negocio y medios</a:t>
            </a:r>
          </a:p>
        </p:txBody>
      </p:sp>
      <p:pic>
        <p:nvPicPr>
          <p:cNvPr id="6" name="Picture 5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57200"/>
            <a:ext cx="533400" cy="47625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647700"/>
            <a:ext cx="11430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006B"/>
                </a:solidFill>
                <a:latin typeface="Lato"/>
              </a:rPr>
              <a:t>Framework de medición integral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28700"/>
            <a:ext cx="5143500" cy="19050"/>
          </a:xfrm>
          <a:prstGeom prst="rect">
            <a:avLst/>
          </a:prstGeom>
          <a:solidFill>
            <a:srgbClr val="DC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143000"/>
            <a:ext cx="5143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006B"/>
                </a:solidFill>
                <a:latin typeface="Lato"/>
              </a:rPr>
              <a:t>KPIS DE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4859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Top of Mind (ToM)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752600"/>
            <a:ext cx="4381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Estudio pre/post campaña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0" y="1485900"/>
            <a:ext cx="76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C006B"/>
                </a:solidFill>
                <a:latin typeface="Lato"/>
              </a:rPr>
              <a:t>+10pts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2057400"/>
            <a:ext cx="5143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33528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Brand Lift /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619500"/>
            <a:ext cx="4381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Espontáneo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0" y="3352800"/>
            <a:ext cx="76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C006B"/>
                </a:solidFill>
                <a:latin typeface="Lato"/>
              </a:rPr>
              <a:t>+20pts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3924300"/>
            <a:ext cx="5143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52197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Recall publicitario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486400"/>
            <a:ext cx="4381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Survey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3500" y="5219700"/>
            <a:ext cx="76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C006B"/>
                </a:solidFill>
                <a:latin typeface="Lato"/>
              </a:rPr>
              <a:t>&gt;50%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5791200"/>
            <a:ext cx="5143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70866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NPS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7353300"/>
            <a:ext cx="4381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Medición continua en plataforma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3500" y="7086600"/>
            <a:ext cx="76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C006B"/>
                </a:solidFill>
                <a:latin typeface="Lato"/>
              </a:rPr>
              <a:t>&gt;25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0" y="1028700"/>
            <a:ext cx="5143500" cy="1905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0" y="1143000"/>
            <a:ext cx="5143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7D8F"/>
                </a:solidFill>
                <a:latin typeface="Lato"/>
              </a:rPr>
              <a:t>KPIS DE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859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Tráfico directo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0" y="1752600"/>
            <a:ext cx="4381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Google Analytics / Firebase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0" y="1485900"/>
            <a:ext cx="76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77D8F"/>
                </a:solidFill>
                <a:latin typeface="Lato"/>
              </a:rPr>
              <a:t>+25%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2057400"/>
            <a:ext cx="5143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0" y="33528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Generación de leads B2B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0" y="3619500"/>
            <a:ext cx="4381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CRM + UTM tagging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0" y="3352800"/>
            <a:ext cx="76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77D8F"/>
                </a:solidFill>
                <a:latin typeface="Lato"/>
              </a:rPr>
              <a:t>+30%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3924300"/>
            <a:ext cx="5143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0" y="52197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Descargas de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0" y="5486400"/>
            <a:ext cx="4381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App Store / Google 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7500" y="5219700"/>
            <a:ext cx="76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77D8F"/>
                </a:solidFill>
                <a:latin typeface="Lato"/>
              </a:rPr>
              <a:t>+40%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0" y="5791200"/>
            <a:ext cx="5143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0" y="70866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Nuevos anunciantes activos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0" y="7353300"/>
            <a:ext cx="4381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Dashboard interno E24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7500" y="7086600"/>
            <a:ext cx="76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77D8F"/>
                </a:solidFill>
                <a:latin typeface="Lato"/>
              </a:rPr>
              <a:t>+20%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0" y="1028700"/>
            <a:ext cx="5143500" cy="19050"/>
          </a:xfrm>
          <a:prstGeom prst="rect">
            <a:avLst/>
          </a:prstGeom>
          <a:solidFill>
            <a:srgbClr val="07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0" y="1143000"/>
            <a:ext cx="5143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7D8F"/>
                </a:solidFill>
                <a:latin typeface="Lato"/>
              </a:rPr>
              <a:t>KPIS DE MEDIOS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14859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Cobertura alcanzada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1752600"/>
            <a:ext cx="4381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IBOPE / TGI reporting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811500" y="1485900"/>
            <a:ext cx="76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77D8F"/>
                </a:solidFill>
                <a:latin typeface="Lato"/>
              </a:rPr>
              <a:t>&gt;70%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30000" y="2057400"/>
            <a:ext cx="5143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0" y="33528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Frecuencia efectiva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3619500"/>
            <a:ext cx="4381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Plan de medios vs. real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811500" y="3352800"/>
            <a:ext cx="76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77D8F"/>
                </a:solidFill>
                <a:latin typeface="Lato"/>
              </a:rPr>
              <a:t>5–7×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30000" y="3924300"/>
            <a:ext cx="5143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0" y="52197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GRPs TV Paga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5486400"/>
            <a:ext cx="4381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Compra + certificación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811500" y="5219700"/>
            <a:ext cx="76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77D8F"/>
                </a:solidFill>
                <a:latin typeface="Lato"/>
              </a:rPr>
              <a:t>&gt;400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0" y="5791200"/>
            <a:ext cx="5143500" cy="952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0" y="70866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434243"/>
                </a:solidFill>
                <a:latin typeface="Lato"/>
              </a:rPr>
              <a:t>SOV en OOH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7353300"/>
            <a:ext cx="4381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49494"/>
                </a:solidFill>
                <a:latin typeface="Lato"/>
              </a:rPr>
              <a:t>Auditoría de campo mensual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811500" y="7086600"/>
            <a:ext cx="762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77D8F"/>
                </a:solidFill>
                <a:latin typeface="Lato"/>
              </a:rPr>
              <a:t>&gt;25%</a:t>
            </a:r>
          </a:p>
        </p:txBody>
      </p:sp>
      <p:pic>
        <p:nvPicPr>
          <p:cNvPr id="55" name="Picture 54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290" y="9563100"/>
            <a:ext cx="1551709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00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49900" y="0"/>
            <a:ext cx="381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76200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CCCCCC"/>
                </a:solidFill>
                <a:latin typeface="Lato"/>
              </a:rPr>
              <a:t>Encuentra24 · Propuesta de Pitch · Abril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13335000" cy="361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50" b="1" i="0">
                <a:solidFill>
                  <a:srgbClr val="FFFFFF"/>
                </a:solidFill>
                <a:latin typeface="Lato"/>
              </a:rPr>
              <a:t>Encuentra24 tiene</a:t>
            </a:r>
          </a:p>
          <a:p>
            <a:pPr algn="l"/>
            <a:r>
              <a:rPr sz="6450" b="1" i="0">
                <a:solidFill>
                  <a:srgbClr val="FFFFFF"/>
                </a:solidFill>
                <a:latin typeface="Lato"/>
              </a:rPr>
              <a:t>todo para volver a</a:t>
            </a:r>
          </a:p>
          <a:p>
            <a:pPr algn="l"/>
            <a:r>
              <a:rPr sz="6450" b="1" i="0">
                <a:solidFill>
                  <a:srgbClr val="FFFFFF"/>
                </a:solidFill>
                <a:latin typeface="Lato"/>
              </a:rPr>
              <a:t>ser la primera</a:t>
            </a:r>
          </a:p>
          <a:p>
            <a:pPr algn="l"/>
            <a:r>
              <a:rPr sz="6450" b="1" i="0">
                <a:solidFill>
                  <a:srgbClr val="FFFFFF"/>
                </a:solidFill>
                <a:latin typeface="Lato"/>
              </a:rPr>
              <a:t>elección.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6286500"/>
            <a:ext cx="360997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6350" y="6362700"/>
            <a:ext cx="3343275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C006B"/>
                </a:solidFill>
                <a:latin typeface="Lato"/>
              </a:rPr>
              <a:t>✓ Insight poderoso: rapidez + confianza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7275" y="6286500"/>
            <a:ext cx="2752725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625" y="6362700"/>
            <a:ext cx="2486025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C006B"/>
                </a:solidFill>
                <a:latin typeface="Lato"/>
              </a:rPr>
              <a:t>✓ Concepto disruptivo PA + CR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34300" y="6286500"/>
            <a:ext cx="2667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7650" y="6362700"/>
            <a:ext cx="24003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C006B"/>
                </a:solidFill>
                <a:latin typeface="Lato"/>
              </a:rPr>
              <a:t>✓ Mix de medios con data TGI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0" y="6286500"/>
            <a:ext cx="33528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48950" y="6362700"/>
            <a:ext cx="30861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C006B"/>
                </a:solidFill>
                <a:latin typeface="Lato"/>
              </a:rPr>
              <a:t>✓ Ecosistema ATL → digital conectado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982700" y="6286500"/>
            <a:ext cx="30099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16050" y="6362700"/>
            <a:ext cx="27432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C006B"/>
                </a:solidFill>
                <a:latin typeface="Lato"/>
              </a:rPr>
              <a:t>✓ KPIs claros de marca y negocio</a:t>
            </a:r>
          </a:p>
        </p:txBody>
      </p:sp>
      <p:pic>
        <p:nvPicPr>
          <p:cNvPr id="15" name="Picture 1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239000"/>
            <a:ext cx="1995054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